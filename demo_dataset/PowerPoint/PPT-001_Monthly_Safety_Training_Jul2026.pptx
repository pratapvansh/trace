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3864"/>
                </a:solidFill>
              </a:defRPr>
            </a:pPr>
            <a:r>
              <a:t>Monthly Safety Training  --  July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ABC Petrochemicals Pvt. Ltd. | Gujarat Manufacturing Plant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Presented By: Deepak Joshi (Safety Officer)</a:t>
            </a:r>
          </a:p>
          <a:p>
            <a:pPr>
              <a:spcAft>
                <a:spcPts val="800"/>
              </a:spcAft>
              <a:defRPr sz="2000"/>
            </a:pPr>
            <a:r>
              <a:t>Date: 10-Jul-2026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3864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1. Review of Last Month's Safety Statistics</a:t>
            </a:r>
          </a:p>
          <a:p>
            <a:pPr>
              <a:spcAft>
                <a:spcPts val="800"/>
              </a:spcAft>
              <a:defRPr sz="2000"/>
            </a:pPr>
            <a:r>
              <a:t>2. Incident Spotlight: P-101 Oil Leak (INC-001)</a:t>
            </a:r>
          </a:p>
          <a:p>
            <a:pPr>
              <a:spcAft>
                <a:spcPts val="800"/>
              </a:spcAft>
              <a:defRPr sz="2000"/>
            </a:pPr>
            <a:r>
              <a:t>3. Near-Miss Reporting Updates</a:t>
            </a:r>
          </a:p>
          <a:p>
            <a:pPr>
              <a:spcAft>
                <a:spcPts val="800"/>
              </a:spcAft>
              <a:defRPr sz="2000"/>
            </a:pPr>
            <a:r>
              <a:t>4. Confined Space Entry Refresher</a:t>
            </a:r>
          </a:p>
          <a:p>
            <a:pPr>
              <a:spcAft>
                <a:spcPts val="800"/>
              </a:spcAft>
              <a:defRPr sz="2000"/>
            </a:pPr>
            <a:r>
              <a:t>5. PPE Compliance Observations</a:t>
            </a:r>
          </a:p>
          <a:p>
            <a:pPr>
              <a:spcAft>
                <a:spcPts val="800"/>
              </a:spcAft>
              <a:defRPr sz="2000"/>
            </a:pPr>
            <a:r>
              <a:t>6. Open Forum /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3864"/>
                </a:solidFill>
              </a:defRPr>
            </a:pPr>
            <a:r>
              <a:t>Safety Statistics  --  YTD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Total Recordable Incidents: 2</a:t>
            </a:r>
          </a:p>
          <a:p>
            <a:pPr>
              <a:spcAft>
                <a:spcPts val="800"/>
              </a:spcAft>
              <a:defRPr sz="2000"/>
            </a:pPr>
            <a:r>
              <a:t>   • P-101 Oil Leak (Apr 2026)  --  environmental</a:t>
            </a:r>
          </a:p>
          <a:p>
            <a:pPr>
              <a:spcAft>
                <a:spcPts val="800"/>
              </a:spcAft>
              <a:defRPr sz="2000"/>
            </a:pPr>
            <a:r>
              <a:t>   • V-220 Valve Failure (Feb 2026)  --  process safety</a:t>
            </a:r>
          </a:p>
          <a:p>
            <a:pPr>
              <a:spcAft>
                <a:spcPts val="800"/>
              </a:spcAft>
              <a:defRPr sz="2000"/>
            </a:pPr>
            <a:r>
              <a:t>Lost Time Injuries: 0</a:t>
            </a:r>
          </a:p>
          <a:p>
            <a:pPr>
              <a:spcAft>
                <a:spcPts val="800"/>
              </a:spcAft>
              <a:defRPr sz="2000"/>
            </a:pPr>
            <a:r>
              <a:t>Near-Misses Reported: 14 (target: 20/year)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Current LTI-free days: 527</a:t>
            </a:r>
          </a:p>
          <a:p>
            <a:pPr>
              <a:spcAft>
                <a:spcPts val="800"/>
              </a:spcAft>
              <a:defRPr sz="2000"/>
            </a:pPr>
            <a:r>
              <a:t>Target: 1,000 LTI-free days by Dec 2027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3864"/>
                </a:solidFill>
              </a:defRPr>
            </a:pPr>
            <a:r>
              <a:t>Incident Spotlight: P-101 Oil Leak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Date: 03-Apr-2026 | Equipment: P-101</a:t>
            </a:r>
          </a:p>
          <a:p>
            <a:pPr>
              <a:spcAft>
                <a:spcPts val="800"/>
              </a:spcAft>
              <a:defRPr sz="2000"/>
            </a:pPr>
            <a:r>
              <a:t>~2L oil leaked from bearing housing drain plug</a:t>
            </a:r>
          </a:p>
          <a:p>
            <a:pPr>
              <a:spcAft>
                <a:spcPts val="800"/>
              </a:spcAft>
              <a:defRPr sz="2000"/>
            </a:pPr>
            <a:r>
              <a:t>Root Cause: Plug not tightened after bearing replacement</a:t>
            </a:r>
          </a:p>
          <a:p>
            <a:pPr>
              <a:spcAft>
                <a:spcPts val="800"/>
              </a:spcAft>
              <a:defRPr sz="2000"/>
            </a:pPr>
            <a:r>
              <a:t>Corrective Actions Implemented:</a:t>
            </a:r>
          </a:p>
          <a:p>
            <a:pPr>
              <a:spcAft>
                <a:spcPts val="800"/>
              </a:spcAft>
              <a:defRPr sz="2000"/>
            </a:pPr>
            <a:r>
              <a:t>   • Torque verification added to checklist</a:t>
            </a:r>
          </a:p>
          <a:p>
            <a:pPr>
              <a:spcAft>
                <a:spcPts val="800"/>
              </a:spcAft>
              <a:defRPr sz="2000"/>
            </a:pPr>
            <a:r>
              <a:t>   • Lock wire applied to drain plug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Key Learning: Always re-check maintenance actions before sign-off.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3864"/>
                </a:solidFill>
              </a:defRPr>
            </a:pPr>
            <a:r>
              <a:t>Confined Space Entry Refresher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Permit Types: Hot Work / Cold Work / Confined Space</a:t>
            </a:r>
          </a:p>
          <a:p>
            <a:pPr>
              <a:spcAft>
                <a:spcPts val="800"/>
              </a:spcAft>
              <a:defRPr sz="2000"/>
            </a:pPr>
            <a:r>
              <a:t>Gas Testing Required Before Entry:</a:t>
            </a:r>
          </a:p>
          <a:p>
            <a:pPr>
              <a:spcAft>
                <a:spcPts val="800"/>
              </a:spcAft>
              <a:defRPr sz="2000"/>
            </a:pPr>
            <a:r>
              <a:t>   • O₂: 19.5%  -  23.5%</a:t>
            </a:r>
          </a:p>
          <a:p>
            <a:pPr>
              <a:spcAft>
                <a:spcPts val="800"/>
              </a:spcAft>
              <a:defRPr sz="2000"/>
            </a:pPr>
            <a:r>
              <a:t>   • LEL: &lt; 10%</a:t>
            </a:r>
          </a:p>
          <a:p>
            <a:pPr>
              <a:spcAft>
                <a:spcPts val="800"/>
              </a:spcAft>
              <a:defRPr sz="2000"/>
            </a:pPr>
            <a:r>
              <a:t>   • H₂S: &lt; 10 ppm</a:t>
            </a:r>
          </a:p>
          <a:p>
            <a:pPr>
              <a:spcAft>
                <a:spcPts val="800"/>
              </a:spcAft>
              <a:defRPr sz="2000"/>
            </a:pPr>
            <a:r>
              <a:t>   • CO: &lt; 25 ppm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Standby Person Must Be Present At All Times.</a:t>
            </a:r>
          </a:p>
          <a:p>
            <a:pPr>
              <a:spcAft>
                <a:spcPts val="800"/>
              </a:spcAft>
              <a:defRPr sz="2000"/>
            </a:pPr>
            <a:r>
              <a:t>Emergency Rescue Plan Must Be Reviewed Before Entry.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3864"/>
                </a:solidFill>
              </a:defRPr>
            </a:pPr>
            <a:r>
              <a:t>PPE Compliance  --  July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Department-wise Compliance (spot checks):</a:t>
            </a:r>
          </a:p>
          <a:p>
            <a:pPr>
              <a:spcAft>
                <a:spcPts val="800"/>
              </a:spcAft>
              <a:defRPr sz="2000"/>
            </a:pPr>
            <a:r>
              <a:t>   Operations: 96%</a:t>
            </a:r>
          </a:p>
          <a:p>
            <a:pPr>
              <a:spcAft>
                <a:spcPts val="800"/>
              </a:spcAft>
              <a:defRPr sz="2000"/>
            </a:pPr>
            <a:r>
              <a:t>   Maintenance: 92%</a:t>
            </a:r>
          </a:p>
          <a:p>
            <a:pPr>
              <a:spcAft>
                <a:spcPts val="800"/>
              </a:spcAft>
              <a:defRPr sz="2000"/>
            </a:pPr>
            <a:r>
              <a:t>   Contractors: 88%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Action: Contractor PPE awareness session scheduled.</a:t>
            </a:r>
          </a:p>
          <a:p>
            <a:pPr>
              <a:spcAft>
                <a:spcPts val="800"/>
              </a:spcAft>
              <a:defRPr sz="2000"/>
            </a:pPr>
            <a:r>
              <a:t>Target: All departments &gt;= 95% by August 2026.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3864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/>
            </a:pPr>
            <a:r>
              <a:t>Report hazards. Look out for each other.</a:t>
            </a:r>
          </a:p>
          <a:p>
            <a:pPr>
              <a:spcAft>
                <a:spcPts val="800"/>
              </a:spcAft>
              <a:defRPr sz="2000"/>
            </a:pPr>
            <a:r>
              <a:t>Safety is everyone's responsibility.</a:t>
            </a:r>
          </a:p>
          <a:p>
            <a:pPr>
              <a:spcAft>
                <a:spcPts val="800"/>
              </a:spcAft>
              <a:defRPr sz="2000"/>
            </a:pPr>
          </a:p>
          <a:p>
            <a:pPr>
              <a:spcAft>
                <a:spcPts val="800"/>
              </a:spcAft>
              <a:defRPr sz="2000"/>
            </a:pPr>
            <a:r>
              <a:t>Next Training: August 2026  --  Emergency Evacuation Drill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